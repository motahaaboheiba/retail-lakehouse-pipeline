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Quattrocento" panose="02020502030000000404" pitchFamily="18" charset="0"/>
      <p:regular r:id="rId18"/>
    </p:embeddedFont>
    <p:embeddedFont>
      <p:font typeface="Quattrocento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852" autoAdjust="0"/>
  </p:normalViewPr>
  <p:slideViewPr>
    <p:cSldViewPr snapToGrid="0" snapToObjects="1">
      <p:cViewPr varScale="1">
        <p:scale>
          <a:sx n="98" d="100"/>
          <a:sy n="98" d="100"/>
        </p:scale>
        <p:origin x="8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366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hyperlink" Target="https://github.com/MoTahaAboHeiba/retail-lakehouse-pipeline/tree/main" TargetMode="Externa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TahaAboHeiba/retail-lakehouse-pipeline/tree/main/postgre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hyperlink" Target="https://github.com/MoTahaAboHeiba/retail-lakehouse-pipeline/tree/main/s3" TargetMode="Externa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hyperlink" Target="https://github.com/MoTahaAboHeiba/retail-lakehouse-pipeline/tree/main/dbt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MoTahaAboHeiba/retail-lakehouse-pipeline/tree/main/dbt/models/gold" TargetMode="Externa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MoTahaAboHeiba/retail-lakehouse-pipeline/tree/main/airflow" TargetMode="External"/><Relationship Id="rId3" Type="http://schemas.openxmlformats.org/officeDocument/2006/relationships/image" Target="../media/image18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jpe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MoTahaAboHeiba/retail-lakehouse-pipeline/tree/main/dbt" TargetMode="External"/><Relationship Id="rId3" Type="http://schemas.openxmlformats.org/officeDocument/2006/relationships/image" Target="../media/image24.png"/><Relationship Id="rId7" Type="http://schemas.openxmlformats.org/officeDocument/2006/relationships/image" Target="../media/image2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0.jpeg"/><Relationship Id="rId7" Type="http://schemas.openxmlformats.org/officeDocument/2006/relationships/hyperlink" Target="https://app.powerbi.com/links/ooiic6Ccn2?ctid=5f593c84-cad4-46c8-b3de-321c3e829a99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hyperlink" Target="https://github.com/MoTahaAboHeiba/retail-lakehouse-pipeline/blob/main/BUSINESS_LAYER.md" TargetMode="External"/><Relationship Id="rId4" Type="http://schemas.openxmlformats.org/officeDocument/2006/relationships/image" Target="../media/image31.png"/><Relationship Id="rId9" Type="http://schemas.openxmlformats.org/officeDocument/2006/relationships/image" Target="../media/image34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hyperlink" Target="https://my-portfolio.mohamed-aboheiba.workers.dev/" TargetMode="External"/><Relationship Id="rId7" Type="http://schemas.openxmlformats.org/officeDocument/2006/relationships/hyperlink" Target="https://www.linkedin.com/in/mohamed-taha-abo-heiba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hyperlink" Target="https://github.com/MoTahaAboHeiba" TargetMode="Externa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673721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Your pipeline ran. 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2340173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Your tests passed. 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698086" y="3006626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Your numbers were </a:t>
            </a:r>
            <a:r>
              <a:rPr lang="en-US" sz="3650" dirty="0">
                <a:solidFill>
                  <a:srgbClr val="3E8FD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10× wrong.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393293" y="3892451"/>
            <a:ext cx="11405108" cy="398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Here is how that happens, and how you catch it.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698086" y="4565452"/>
            <a:ext cx="10795524" cy="25400"/>
          </a:xfrm>
          <a:prstGeom prst="roundRect">
            <a:avLst>
              <a:gd name="adj" fmla="val 49999"/>
            </a:avLst>
          </a:prstGeom>
          <a:solidFill>
            <a:srgbClr val="F9EEE7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93293" y="4864993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Retail Lakehouse Pipeline</a:t>
            </a: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</a:t>
            </a: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 ·  Mohamed Taha Abo Heiba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60784"/>
            <a:ext cx="1344777" cy="288727"/>
          </a:xfrm>
          <a:prstGeom prst="roundRect">
            <a:avLst>
              <a:gd name="adj" fmla="val 7902"/>
            </a:avLst>
          </a:prstGeom>
          <a:noFill/>
          <a:ln w="6350">
            <a:solidFill>
              <a:srgbClr val="EF9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2085" y="617736"/>
            <a:ext cx="1726363" cy="174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PROJECT SCOPE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98086" y="921941"/>
            <a:ext cx="10795524" cy="55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From fragmented retail data to trusted decisions</a:t>
            </a:r>
            <a:endParaRPr lang="en-US" sz="3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956693"/>
            <a:ext cx="2472569" cy="7605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8184" y="2898378"/>
            <a:ext cx="2092372" cy="335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Sources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88184" y="3415010"/>
            <a:ext cx="2092372" cy="125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0000"/>
              </a:lnSpc>
              <a:buSzPct val="100000"/>
              <a:buChar char="•"/>
            </a:pPr>
            <a:r>
              <a:rPr lang="en-US" sz="14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PostgreSQL</a:t>
            </a: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: 6 OLTP tables</a:t>
            </a:r>
            <a:endParaRPr lang="en-US" sz="1450" dirty="0"/>
          </a:p>
          <a:p>
            <a:pPr marL="294640" indent="-294640" algn="l">
              <a:lnSpc>
                <a:spcPct val="130000"/>
              </a:lnSpc>
              <a:buSzPct val="100000"/>
              <a:buChar char="•"/>
            </a:pPr>
            <a:r>
              <a:rPr lang="en-US" sz="14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AWS S3</a:t>
            </a: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: monthly supplier CSVs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0654" y="1956693"/>
            <a:ext cx="2472569" cy="7605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60753" y="2898378"/>
            <a:ext cx="2092372" cy="335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Pipeline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3360753" y="3415010"/>
            <a:ext cx="2092372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Databricks lakehouse · dbt · Airflow · GitHub Actions CI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3223" y="1956693"/>
            <a:ext cx="2472569" cy="7605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833321" y="2898378"/>
            <a:ext cx="2092372" cy="335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Consumption</a:t>
            </a:r>
            <a:endParaRPr lang="en-US" sz="2100" dirty="0"/>
          </a:p>
        </p:txBody>
      </p:sp>
      <p:sp>
        <p:nvSpPr>
          <p:cNvPr id="13" name="Text 8"/>
          <p:cNvSpPr/>
          <p:nvPr/>
        </p:nvSpPr>
        <p:spPr>
          <a:xfrm>
            <a:off x="5833321" y="3415010"/>
            <a:ext cx="2092372" cy="125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Power BI 3-page report </a:t>
            </a:r>
            <a:endParaRPr lang="en-US" sz="1450" dirty="0"/>
          </a:p>
          <a:p>
            <a:pPr marL="294640" indent="-294640" algn="l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Databricks Genie Agent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8449059" y="1752898"/>
            <a:ext cx="3187620" cy="3307259"/>
          </a:xfrm>
          <a:prstGeom prst="roundRect">
            <a:avLst>
              <a:gd name="adj" fmla="val 895"/>
            </a:avLst>
          </a:prstGeom>
          <a:solidFill>
            <a:srgbClr val="EF9C82"/>
          </a:solidFill>
          <a:ln/>
        </p:spPr>
      </p:sp>
      <p:sp>
        <p:nvSpPr>
          <p:cNvPr id="15" name="Text 10"/>
          <p:cNvSpPr/>
          <p:nvPr/>
        </p:nvSpPr>
        <p:spPr>
          <a:xfrm>
            <a:off x="8639157" y="1934071"/>
            <a:ext cx="2807424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At a glance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8639157" y="2394744"/>
            <a:ext cx="2807424" cy="1971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0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123/123</a:t>
            </a:r>
            <a:r>
              <a:rPr lang="en-US" sz="14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dbt tests passing</a:t>
            </a:r>
            <a:endParaRPr lang="en-US" sz="1450" dirty="0"/>
          </a:p>
          <a:p>
            <a:pPr marL="294640" indent="-294640" algn="l">
              <a:lnSpc>
                <a:spcPct val="130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Galaxy schema</a:t>
            </a:r>
            <a:r>
              <a:rPr lang="en-US" sz="14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gold layer</a:t>
            </a:r>
            <a:endParaRPr lang="en-US" sz="1450" dirty="0"/>
          </a:p>
          <a:p>
            <a:pPr marL="294640" indent="-294640" algn="l">
              <a:lnSpc>
                <a:spcPct val="130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Built for</a:t>
            </a:r>
            <a:r>
              <a:rPr lang="en-US" sz="14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sales, Supplies, and workforce analysis</a:t>
            </a:r>
            <a:endParaRPr lang="en-US" sz="1450" dirty="0"/>
          </a:p>
          <a:p>
            <a:pPr marL="294640" indent="-294640" algn="l">
              <a:lnSpc>
                <a:spcPct val="130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Dual-surface</a:t>
            </a:r>
            <a:r>
              <a:rPr lang="en-US" sz="14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consumption layer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698086" y="5263952"/>
            <a:ext cx="10795524" cy="1033165"/>
          </a:xfrm>
          <a:prstGeom prst="roundRect">
            <a:avLst>
              <a:gd name="adj" fmla="val 2760"/>
            </a:avLst>
          </a:prstGeom>
          <a:solidFill>
            <a:srgbClr val="5CC97B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184" y="5523111"/>
            <a:ext cx="237623" cy="19010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15905" y="5492651"/>
            <a:ext cx="9987606" cy="593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Goal:</a:t>
            </a:r>
            <a:r>
              <a:rPr lang="en-US" sz="14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Turn fragmented retail operational data into a </a:t>
            </a:r>
            <a:r>
              <a:rPr lang="en-US" sz="1450" b="1" dirty="0">
                <a:solidFill>
                  <a:srgbClr val="000000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trusted analytical layer</a:t>
            </a:r>
            <a:r>
              <a:rPr lang="en-US" sz="14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for sales, procurement, and workforce decisions.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608509"/>
            <a:ext cx="1017959" cy="217785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EF9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4106" y="651470"/>
            <a:ext cx="1455503" cy="131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98086" y="867470"/>
            <a:ext cx="10795524" cy="421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Two sources. Three layers. </a:t>
            </a:r>
            <a:r>
              <a:rPr lang="en-US" sz="2650" dirty="0">
                <a:solidFill>
                  <a:srgbClr val="3E8FD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Two consumption surfaces.</a:t>
            </a:r>
            <a:endParaRPr lang="en-US" sz="2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208" y="1443633"/>
            <a:ext cx="6117278" cy="3205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8086" y="4764980"/>
            <a:ext cx="10795524" cy="394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Full-width architecture diagram — insert your own screenshot here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98086" y="5274965"/>
            <a:ext cx="10795524" cy="464344"/>
          </a:xfrm>
          <a:prstGeom prst="roundRect">
            <a:avLst>
              <a:gd name="adj" fmla="val 4632"/>
            </a:avLst>
          </a:prstGeom>
          <a:solidFill>
            <a:srgbClr val="5E98F1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453" y="5421610"/>
            <a:ext cx="179185" cy="14337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64005" y="5413772"/>
            <a:ext cx="10795821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PostgreSQL and S3 enter through independent bronze paths, dbt transforms them, and become a trusted gold layer consumed by Power BI and Genie Agent.</a:t>
            </a:r>
            <a:endParaRPr lang="en-US" sz="1100" dirty="0"/>
          </a:p>
        </p:txBody>
      </p:sp>
      <p:pic>
        <p:nvPicPr>
          <p:cNvPr id="10" name="Image 2" descr="preencoded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8171" y="5855196"/>
            <a:ext cx="2335253" cy="3941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1304032"/>
            <a:ext cx="1088105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EF9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7740" y="1363861"/>
            <a:ext cx="1458380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INGESTION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1686917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Two ingestion paths. </a:t>
            </a:r>
            <a:r>
              <a:rPr lang="en-US" sz="3650" dirty="0">
                <a:solidFill>
                  <a:srgbClr val="3E8FD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One bronze layer.</a:t>
            </a:r>
            <a:endParaRPr lang="en-US" sz="3650" dirty="0"/>
          </a:p>
        </p:txBody>
      </p:sp>
      <p:sp>
        <p:nvSpPr>
          <p:cNvPr id="5" name="Shape 3"/>
          <p:cNvSpPr/>
          <p:nvPr/>
        </p:nvSpPr>
        <p:spPr>
          <a:xfrm>
            <a:off x="698086" y="2572742"/>
            <a:ext cx="10795524" cy="2981127"/>
          </a:xfrm>
          <a:prstGeom prst="roundRect">
            <a:avLst>
              <a:gd name="adj" fmla="val 1004"/>
            </a:avLst>
          </a:prstGeom>
          <a:solidFill>
            <a:srgbClr val="315251"/>
          </a:solidFill>
          <a:ln/>
        </p:spPr>
      </p:sp>
      <p:sp>
        <p:nvSpPr>
          <p:cNvPr id="6" name="Shape 4"/>
          <p:cNvSpPr/>
          <p:nvPr/>
        </p:nvSpPr>
        <p:spPr>
          <a:xfrm>
            <a:off x="698086" y="2572742"/>
            <a:ext cx="5397762" cy="2981127"/>
          </a:xfrm>
          <a:custGeom>
            <a:avLst/>
            <a:gdLst/>
            <a:ahLst/>
            <a:cxnLst/>
            <a:rect l="l" t="t" r="r" b="b"/>
            <a:pathLst>
              <a:path w="5397762" h="2981127">
                <a:moveTo>
                  <a:pt x="24935" y="0"/>
                </a:moveTo>
                <a:lnTo>
                  <a:pt x="5397762" y="0"/>
                </a:lnTo>
                <a:lnTo>
                  <a:pt x="5397762" y="2981127"/>
                </a:lnTo>
                <a:lnTo>
                  <a:pt x="24935" y="2981127"/>
                </a:lnTo>
                <a:arcTo wR="24935" hR="24935" stAng="5400000" swAng="5400000"/>
                <a:lnTo>
                  <a:pt x="0" y="24935"/>
                </a:lnTo>
                <a:arcTo wR="24935" hR="24935" stAng="10800000" swAng="5400000"/>
                <a:close/>
              </a:path>
            </a:pathLst>
          </a:custGeom>
          <a:solidFill>
            <a:srgbClr val="315251"/>
          </a:solidFill>
          <a:ln/>
        </p:spPr>
      </p:sp>
      <p:sp>
        <p:nvSpPr>
          <p:cNvPr id="7" name="Text 5"/>
          <p:cNvSpPr/>
          <p:nvPr/>
        </p:nvSpPr>
        <p:spPr>
          <a:xfrm>
            <a:off x="897510" y="2772172"/>
            <a:ext cx="499891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Primary Path — PostgreSQL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7510" y="3185120"/>
            <a:ext cx="4998912" cy="1396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Lakeflow Connect · cursor column + primary key upsert per table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CDC unavailable in this setup — downstream SCD2 design accounts for the limitation.</a:t>
            </a:r>
            <a:endParaRPr lang="en-US" sz="1550" dirty="0"/>
          </a:p>
        </p:txBody>
      </p:sp>
      <p:pic>
        <p:nvPicPr>
          <p:cNvPr id="9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5272" y="4805859"/>
            <a:ext cx="3343390" cy="5485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095848" y="2572742"/>
            <a:ext cx="5397762" cy="2981127"/>
          </a:xfrm>
          <a:custGeom>
            <a:avLst/>
            <a:gdLst/>
            <a:ahLst/>
            <a:cxnLst/>
            <a:rect l="l" t="t" r="r" b="b"/>
            <a:pathLst>
              <a:path w="5397762" h="2981127">
                <a:moveTo>
                  <a:pt x="0" y="0"/>
                </a:moveTo>
                <a:lnTo>
                  <a:pt x="5372827" y="0"/>
                </a:lnTo>
                <a:arcTo wR="24935" hR="24935" stAng="16200000" swAng="5400000"/>
                <a:lnTo>
                  <a:pt x="5397762" y="2956191"/>
                </a:lnTo>
                <a:arcTo wR="24935" hR="24935" stAng="0" swAng="5400000"/>
                <a:lnTo>
                  <a:pt x="0" y="2981127"/>
                </a:lnTo>
                <a:lnTo>
                  <a:pt x="0" y="0"/>
                </a:lnTo>
                <a:close/>
              </a:path>
            </a:pathLst>
          </a:custGeom>
          <a:solidFill>
            <a:srgbClr val="315251"/>
          </a:solidFill>
          <a:ln/>
        </p:spPr>
      </p:sp>
      <p:sp>
        <p:nvSpPr>
          <p:cNvPr id="11" name="Shape 8"/>
          <p:cNvSpPr/>
          <p:nvPr/>
        </p:nvSpPr>
        <p:spPr>
          <a:xfrm>
            <a:off x="6095848" y="2572742"/>
            <a:ext cx="25399" cy="2981127"/>
          </a:xfrm>
          <a:prstGeom prst="roundRect">
            <a:avLst>
              <a:gd name="adj" fmla="val 50001"/>
            </a:avLst>
          </a:prstGeom>
          <a:solidFill>
            <a:srgbClr val="4A6B6A"/>
          </a:solidFill>
          <a:ln/>
        </p:spPr>
      </p:sp>
      <p:sp>
        <p:nvSpPr>
          <p:cNvPr id="12" name="Text 9"/>
          <p:cNvSpPr/>
          <p:nvPr/>
        </p:nvSpPr>
        <p:spPr>
          <a:xfrm>
            <a:off x="6295272" y="2772172"/>
            <a:ext cx="499891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Secondary Path — AWS S3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295272" y="3185120"/>
            <a:ext cx="4998912" cy="1077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Supplier CSVs · managed Lakeflow pipeline (no custom code)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Airflow verifies terminal state before downstream runs</a:t>
            </a:r>
            <a:endParaRPr lang="en-US" sz="1550" dirty="0"/>
          </a:p>
        </p:txBody>
      </p:sp>
      <p:pic>
        <p:nvPicPr>
          <p:cNvPr id="14" name="Image 1" descr="preencoded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2081" y="4486672"/>
            <a:ext cx="2545294" cy="5485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37" y="230660"/>
            <a:ext cx="842148" cy="151408"/>
          </a:xfrm>
          <a:prstGeom prst="roundRect">
            <a:avLst>
              <a:gd name="adj" fmla="val 7905"/>
            </a:avLst>
          </a:prstGeom>
          <a:noFill/>
          <a:ln w="6350">
            <a:solidFill>
              <a:srgbClr val="EF9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7864" y="260525"/>
            <a:ext cx="1332078" cy="91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TRANSFORMATION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704435" y="555723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5CC97B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pipeline was green.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783300" y="915271"/>
            <a:ext cx="262499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F44444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data was wrong.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45440" y="985093"/>
            <a:ext cx="99712" cy="448766"/>
          </a:xfrm>
          <a:prstGeom prst="roundRect">
            <a:avLst>
              <a:gd name="adj" fmla="val 15004"/>
            </a:avLst>
          </a:prstGeom>
          <a:solidFill>
            <a:srgbClr val="315251"/>
          </a:solidFill>
          <a:ln/>
        </p:spPr>
      </p:sp>
      <p:sp>
        <p:nvSpPr>
          <p:cNvPr id="7" name="Text 5"/>
          <p:cNvSpPr/>
          <p:nvPr/>
        </p:nvSpPr>
        <p:spPr>
          <a:xfrm>
            <a:off x="1180790" y="1115939"/>
            <a:ext cx="4927179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7 incremental silver models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94959" y="1515863"/>
            <a:ext cx="99712" cy="448766"/>
          </a:xfrm>
          <a:prstGeom prst="roundRect">
            <a:avLst>
              <a:gd name="adj" fmla="val 15004"/>
            </a:avLst>
          </a:prstGeom>
          <a:solidFill>
            <a:srgbClr val="315251"/>
          </a:solidFill>
          <a:ln/>
        </p:spPr>
      </p:sp>
      <p:sp>
        <p:nvSpPr>
          <p:cNvPr id="9" name="Text 7"/>
          <p:cNvSpPr/>
          <p:nvPr/>
        </p:nvSpPr>
        <p:spPr>
          <a:xfrm>
            <a:off x="1330309" y="1646708"/>
            <a:ext cx="4777660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SCD2 snapshots across 4 dimensions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44577" y="2055567"/>
            <a:ext cx="99712" cy="448766"/>
          </a:xfrm>
          <a:prstGeom prst="roundRect">
            <a:avLst>
              <a:gd name="adj" fmla="val 15004"/>
            </a:avLst>
          </a:prstGeom>
          <a:solidFill>
            <a:srgbClr val="315251"/>
          </a:solidFill>
          <a:ln/>
        </p:spPr>
      </p:sp>
      <p:sp>
        <p:nvSpPr>
          <p:cNvPr id="11" name="Text 9"/>
          <p:cNvSpPr/>
          <p:nvPr/>
        </p:nvSpPr>
        <p:spPr>
          <a:xfrm>
            <a:off x="1479927" y="2214491"/>
            <a:ext cx="4628042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Metadata-driven wide table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79927" y="2382865"/>
            <a:ext cx="4628042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One config entry per source — no hand-written SQL per join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73355" y="1507034"/>
            <a:ext cx="5126604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obt_business returned </a:t>
            </a:r>
            <a:r>
              <a:rPr lang="en-US" sz="1200" b="1" dirty="0">
                <a:solidFill>
                  <a:srgbClr val="F44444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300,513 rows.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73355" y="1703487"/>
            <a:ext cx="5126604" cy="28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Expected: </a:t>
            </a:r>
            <a:r>
              <a:rPr lang="en-US" sz="120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30,021.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Every dbt test passed clean.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flipH="1">
            <a:off x="6227923" y="1390926"/>
            <a:ext cx="45719" cy="676736"/>
          </a:xfrm>
          <a:prstGeom prst="roundRect">
            <a:avLst>
              <a:gd name="adj" fmla="val 49999"/>
            </a:avLst>
          </a:prstGeom>
          <a:solidFill>
            <a:srgbClr val="EF9C82"/>
          </a:solidFill>
          <a:ln/>
        </p:spPr>
      </p:sp>
      <p:sp>
        <p:nvSpPr>
          <p:cNvPr id="16" name="Text 14"/>
          <p:cNvSpPr/>
          <p:nvPr/>
        </p:nvSpPr>
        <p:spPr>
          <a:xfrm>
            <a:off x="6144225" y="2145732"/>
            <a:ext cx="5276123" cy="356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350"/>
              </a:spcAft>
              <a:buNone/>
            </a:pPr>
            <a:r>
              <a:rPr lang="en-US" sz="1200" b="1" dirty="0">
                <a:solidFill>
                  <a:srgbClr val="F44444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Root cause</a:t>
            </a:r>
            <a:r>
              <a:rPr lang="en-US" sz="120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:</a:t>
            </a: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employees were joined through </a:t>
            </a:r>
            <a:r>
              <a:rPr lang="en-US" sz="1200" dirty="0">
                <a:solidFill>
                  <a:srgbClr val="F9EEE7"/>
                </a:solidFill>
                <a:highlight>
                  <a:srgbClr val="1F40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store_id</a:t>
            </a: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, creating a one-to-many fan-out.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5CC97B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Fix</a:t>
            </a:r>
            <a:r>
              <a:rPr lang="en-US" sz="120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:</a:t>
            </a: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removed the invalid relationship and added explicit grain validation.</a:t>
            </a:r>
            <a:endParaRPr lang="en-US" sz="12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514" y="2763974"/>
            <a:ext cx="8828565" cy="3465781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393293" y="7928868"/>
            <a:ext cx="114051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dbt lineage diagram</a:t>
            </a:r>
            <a:endParaRPr lang="en-US" sz="750" dirty="0"/>
          </a:p>
        </p:txBody>
      </p:sp>
      <p:pic>
        <p:nvPicPr>
          <p:cNvPr id="19" name="Image 1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6456" y="8104584"/>
            <a:ext cx="1318783" cy="274241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745728" y="919708"/>
            <a:ext cx="299137" cy="299145"/>
          </a:xfrm>
          <a:prstGeom prst="ellipse">
            <a:avLst/>
          </a:prstGeom>
          <a:solidFill>
            <a:srgbClr val="315251"/>
          </a:solidFill>
          <a:ln/>
        </p:spPr>
      </p:sp>
      <p:sp>
        <p:nvSpPr>
          <p:cNvPr id="21" name="Shape 17"/>
          <p:cNvSpPr/>
          <p:nvPr/>
        </p:nvSpPr>
        <p:spPr>
          <a:xfrm>
            <a:off x="895247" y="1450477"/>
            <a:ext cx="299137" cy="299145"/>
          </a:xfrm>
          <a:prstGeom prst="ellipse">
            <a:avLst/>
          </a:prstGeom>
          <a:solidFill>
            <a:srgbClr val="315251"/>
          </a:solidFill>
          <a:ln/>
        </p:spPr>
      </p:sp>
      <p:sp>
        <p:nvSpPr>
          <p:cNvPr id="22" name="Shape 18"/>
          <p:cNvSpPr/>
          <p:nvPr/>
        </p:nvSpPr>
        <p:spPr>
          <a:xfrm>
            <a:off x="1044865" y="1990181"/>
            <a:ext cx="299137" cy="299145"/>
          </a:xfrm>
          <a:prstGeom prst="ellipse">
            <a:avLst/>
          </a:prstGeom>
          <a:solidFill>
            <a:srgbClr val="315251"/>
          </a:solidFill>
          <a:ln/>
        </p:spPr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60FBA9BF-126E-11C5-A3FB-4E50073BC4FC}"/>
              </a:ext>
            </a:extLst>
          </p:cNvPr>
          <p:cNvSpPr/>
          <p:nvPr/>
        </p:nvSpPr>
        <p:spPr>
          <a:xfrm>
            <a:off x="393293" y="6294636"/>
            <a:ext cx="11405108" cy="13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dbt lineage diagram</a:t>
            </a:r>
            <a:endParaRPr lang="en-US" sz="850" dirty="0"/>
          </a:p>
        </p:txBody>
      </p:sp>
      <p:pic>
        <p:nvPicPr>
          <p:cNvPr id="24" name="Image 1" descr="preencoded.png">
            <a:hlinkClick r:id="rId4"/>
            <a:extLst>
              <a:ext uri="{FF2B5EF4-FFF2-40B4-BE49-F238E27FC236}">
                <a16:creationId xmlns:a16="http://schemas.microsoft.com/office/drawing/2014/main" id="{69049E4A-1E08-2926-F6DA-169D18C5B7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4644" y="6496744"/>
            <a:ext cx="1442307" cy="2999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53145"/>
            <a:ext cx="700765" cy="17998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EF9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9125" y="588665"/>
            <a:ext cx="1168272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GOLD LAYER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98086" y="761206"/>
            <a:ext cx="10795524" cy="696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Galaxy schema. Two business processes.</a:t>
            </a:r>
            <a:r>
              <a:rPr lang="en-US" sz="2150" dirty="0">
                <a:solidFill>
                  <a:srgbClr val="5E98F1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Shared dimensions only where the grain supports them.</a:t>
            </a:r>
            <a:endParaRPr lang="en-US" sz="2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8086" y="1536997"/>
            <a:ext cx="7586222" cy="33854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93293" y="5027910"/>
            <a:ext cx="11405108" cy="151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Galaxy schema ERD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5257998"/>
            <a:ext cx="3551645" cy="6421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9949" y="5389066"/>
            <a:ext cx="323871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fact_orders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879949" y="5605363"/>
            <a:ext cx="3238717" cy="151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Sales · order line grain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9976" y="5257998"/>
            <a:ext cx="3551645" cy="6421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01839" y="5389066"/>
            <a:ext cx="323871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fact_supplier_deliveries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4501839" y="5605363"/>
            <a:ext cx="3238717" cy="151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Procurement · delivery grain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41865" y="5257998"/>
            <a:ext cx="3551645" cy="6421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123729" y="5389066"/>
            <a:ext cx="323871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Shared Dimensions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8123729" y="5605363"/>
            <a:ext cx="3238717" cy="163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F9EEE7"/>
                </a:solidFill>
                <a:highlight>
                  <a:srgbClr val="1F40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dim_date</a:t>
            </a: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and </a:t>
            </a:r>
            <a:r>
              <a:rPr lang="en-US" sz="900" dirty="0">
                <a:solidFill>
                  <a:srgbClr val="F9EEE7"/>
                </a:solidFill>
                <a:highlight>
                  <a:srgbClr val="1F40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dim_product</a:t>
            </a: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shared across both facts</a:t>
            </a:r>
            <a:endParaRPr lang="en-US" sz="900" dirty="0"/>
          </a:p>
        </p:txBody>
      </p:sp>
      <p:pic>
        <p:nvPicPr>
          <p:cNvPr id="16" name="Image 4" descr="preencoded.png">
            <a:hlinkClick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2912" y="5979220"/>
            <a:ext cx="1965772" cy="3256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48580"/>
            <a:ext cx="772399" cy="151408"/>
          </a:xfrm>
          <a:prstGeom prst="roundRect">
            <a:avLst>
              <a:gd name="adj" fmla="val 7905"/>
            </a:avLst>
          </a:prstGeom>
          <a:noFill/>
          <a:ln w="6350">
            <a:solidFill>
              <a:srgbClr val="EF9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7913" y="578445"/>
            <a:ext cx="1262329" cy="91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ORCHESTRATION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698086" y="719931"/>
            <a:ext cx="10795524" cy="404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5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Sequential </a:t>
            </a:r>
            <a:r>
              <a:rPr lang="en-US" sz="2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vs </a:t>
            </a:r>
            <a:r>
              <a:rPr lang="en-US" sz="25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Parallel branches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698086" y="1199455"/>
            <a:ext cx="10795524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3E8FD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Measured improvement.</a:t>
            </a:r>
            <a:r>
              <a:rPr lang="en-US" sz="14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Two alert channels.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985" y="1382951"/>
            <a:ext cx="8800123" cy="1141016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2985" y="2590270"/>
            <a:ext cx="8800123" cy="114106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98085" y="3806046"/>
            <a:ext cx="10795524" cy="19050"/>
          </a:xfrm>
          <a:prstGeom prst="roundRect">
            <a:avLst>
              <a:gd name="adj" fmla="val 49999"/>
            </a:avLst>
          </a:prstGeom>
          <a:solidFill>
            <a:srgbClr val="F9EEE7">
              <a:alpha val="5000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3102054" y="4240411"/>
            <a:ext cx="588749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9:03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7464" y="3941266"/>
            <a:ext cx="718028" cy="71804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57968" y="4734025"/>
            <a:ext cx="3204307" cy="187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Sequential avg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515831" y="4235392"/>
            <a:ext cx="588749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7:35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1242" y="3936247"/>
            <a:ext cx="718028" cy="71804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27001" y="4729005"/>
            <a:ext cx="5366608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Parallel avg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5629436" y="4802327"/>
            <a:ext cx="588749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~16%</a:t>
            </a:r>
            <a:endParaRPr lang="en-US" sz="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4846" y="4503182"/>
            <a:ext cx="718028" cy="71804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240606" y="5295940"/>
            <a:ext cx="5366608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Runtime reduction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3240606" y="5472450"/>
            <a:ext cx="53666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across 3 measured runs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698086" y="5754474"/>
            <a:ext cx="10795524" cy="19050"/>
          </a:xfrm>
          <a:prstGeom prst="roundRect">
            <a:avLst>
              <a:gd name="adj" fmla="val 49999"/>
            </a:avLst>
          </a:prstGeom>
          <a:solidFill>
            <a:srgbClr val="F9EEE7">
              <a:alpha val="50000"/>
            </a:srgbClr>
          </a:solidFill>
          <a:ln/>
        </p:spPr>
      </p:sp>
      <p:sp>
        <p:nvSpPr>
          <p:cNvPr id="20" name="Text 13"/>
          <p:cNvSpPr/>
          <p:nvPr/>
        </p:nvSpPr>
        <p:spPr>
          <a:xfrm>
            <a:off x="698086" y="5828705"/>
            <a:ext cx="10795524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Alerting</a:t>
            </a:r>
            <a:endParaRPr lang="en-US" dirty="0"/>
          </a:p>
        </p:txBody>
      </p:sp>
      <p:sp>
        <p:nvSpPr>
          <p:cNvPr id="21" name="Text 14"/>
          <p:cNvSpPr/>
          <p:nvPr/>
        </p:nvSpPr>
        <p:spPr>
          <a:xfrm>
            <a:off x="698086" y="6138069"/>
            <a:ext cx="114051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Task failure → </a:t>
            </a:r>
            <a:r>
              <a:rPr lang="en-US" sz="120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Gmail + Telegram</a:t>
            </a:r>
            <a:endParaRPr lang="en-US" sz="1200" dirty="0"/>
          </a:p>
        </p:txBody>
      </p:sp>
      <p:pic>
        <p:nvPicPr>
          <p:cNvPr id="22" name="Image 5" descr="preencoded.png">
            <a:hlinkClick r:id="rId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6200" y="6427902"/>
            <a:ext cx="1795219" cy="2742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83406"/>
            <a:ext cx="848398" cy="288727"/>
          </a:xfrm>
          <a:prstGeom prst="roundRect">
            <a:avLst>
              <a:gd name="adj" fmla="val 7902"/>
            </a:avLst>
          </a:prstGeom>
          <a:noFill/>
          <a:ln w="6350">
            <a:solidFill>
              <a:srgbClr val="EF9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2085" y="640358"/>
            <a:ext cx="1229984" cy="174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TESTING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98086" y="944563"/>
            <a:ext cx="10795524" cy="55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5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Green tests </a:t>
            </a:r>
            <a:r>
              <a:rPr lang="en-US" sz="350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do not</a:t>
            </a:r>
            <a:r>
              <a:rPr lang="en-US" sz="35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guarantee correct data.</a:t>
            </a:r>
            <a:endParaRPr lang="en-US" sz="3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1979315"/>
            <a:ext cx="5728847" cy="1244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5181" y="2194818"/>
            <a:ext cx="5196254" cy="335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Referential integrity checks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15181" y="2711450"/>
            <a:ext cx="5196254" cy="296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across dimension relationships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3405088"/>
            <a:ext cx="5728847" cy="1244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15181" y="3620591"/>
            <a:ext cx="5196254" cy="335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Singular Grain Checks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1015181" y="4137223"/>
            <a:ext cx="5196254" cy="296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for every fact table — catching the 10× fan-out class of bug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4830862"/>
            <a:ext cx="5728847" cy="118864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15181" y="5046365"/>
            <a:ext cx="5196254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CI Quality Gate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1015181" y="5507038"/>
            <a:ext cx="5196254" cy="296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Every push · blocks merge on failure</a:t>
            </a:r>
            <a:endParaRPr lang="en-US" sz="14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7019" y="1979315"/>
            <a:ext cx="4602841" cy="205174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182166" y="4397871"/>
            <a:ext cx="4317694" cy="742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50" i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 green dbt run confirms execution. It does not confirm correctness.</a:t>
            </a:r>
            <a:endParaRPr lang="en-US" sz="1850" dirty="0"/>
          </a:p>
        </p:txBody>
      </p:sp>
      <p:pic>
        <p:nvPicPr>
          <p:cNvPr id="16" name="Image 4" descr="preencoded.png">
            <a:hlinkClick r:id="rId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43850" y="5344220"/>
            <a:ext cx="2794327" cy="522784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6897019" y="4234855"/>
            <a:ext cx="25399" cy="1835944"/>
          </a:xfrm>
          <a:prstGeom prst="roundRect">
            <a:avLst>
              <a:gd name="adj" fmla="val 50001"/>
            </a:avLst>
          </a:prstGeom>
          <a:solidFill>
            <a:srgbClr val="EF9C82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59495"/>
            <a:ext cx="700169" cy="151408"/>
          </a:xfrm>
          <a:prstGeom prst="roundRect">
            <a:avLst>
              <a:gd name="adj" fmla="val 7905"/>
            </a:avLst>
          </a:prstGeom>
          <a:noFill/>
          <a:ln w="6350">
            <a:solidFill>
              <a:srgbClr val="EF9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7913" y="589359"/>
            <a:ext cx="1190099" cy="91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CONSUMPTION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698086" y="730845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Fixed report for the known questions. </a:t>
            </a:r>
            <a:r>
              <a:rPr lang="en-US" sz="2000" dirty="0">
                <a:solidFill>
                  <a:srgbClr val="3E8FD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Agent for everything else.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98086" y="1148655"/>
            <a:ext cx="5276123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Power BI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98086" y="1433116"/>
            <a:ext cx="5276123" cy="448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 pages: </a:t>
            </a:r>
            <a:r>
              <a:rPr lang="en-US" sz="120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Sales · Supplies · Workforce</a:t>
            </a:r>
            <a:endParaRPr lang="en-US" sz="1200" dirty="0"/>
          </a:p>
          <a:p>
            <a:pPr marL="0" indent="0" algn="l">
              <a:lnSpc>
                <a:spcPct val="10000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Designed for recurring operational questions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Import mode via Databricks Partner Connect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176737"/>
            <a:ext cx="4282273" cy="322076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93293" y="5453559"/>
            <a:ext cx="5885707" cy="149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Power BI Workforce page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223836" y="1148655"/>
            <a:ext cx="5276123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Genie Agent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223836" y="1433116"/>
            <a:ext cx="5276123" cy="448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Natural-language exploration across the gold layer</a:t>
            </a:r>
            <a:endParaRPr lang="en-US" sz="1200" dirty="0"/>
          </a:p>
          <a:p>
            <a:pPr marL="0" indent="0" algn="l">
              <a:lnSpc>
                <a:spcPct val="10000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Designed for questions beyond the predefined report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Table and column descriptions pre-annotated in Unity Catalog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551713" y="5478998"/>
            <a:ext cx="5276123" cy="264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Genie Agent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98086" y="5704086"/>
            <a:ext cx="10795524" cy="264120"/>
          </a:xfrm>
          <a:prstGeom prst="roundRect">
            <a:avLst>
              <a:gd name="adj" fmla="val 5664"/>
            </a:avLst>
          </a:prstGeom>
          <a:solidFill>
            <a:srgbClr val="5E98F1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798" y="5778798"/>
            <a:ext cx="124616" cy="9971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22126" y="5778798"/>
            <a:ext cx="10981356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Not redundant. Power BI answers recurring questions. Genie explores the questions nobody wrote a query for yet.</a:t>
            </a:r>
            <a:endParaRPr lang="en-US" sz="1200" dirty="0"/>
          </a:p>
        </p:txBody>
      </p:sp>
      <p:pic>
        <p:nvPicPr>
          <p:cNvPr id="16" name="Image 3" descr="preencoded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3357" y="6024265"/>
            <a:ext cx="1832822" cy="274241"/>
          </a:xfrm>
          <a:prstGeom prst="rect">
            <a:avLst/>
          </a:prstGeom>
        </p:spPr>
      </p:pic>
      <p:pic>
        <p:nvPicPr>
          <p:cNvPr id="17" name="Image 4" descr="preencoded.png">
            <a:hlinkClick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5986" y="6024265"/>
            <a:ext cx="702253" cy="27424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26B4869-168C-ABAD-59E8-C7AF4DBF119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97005" y="2176737"/>
            <a:ext cx="5561764" cy="32323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1301948"/>
            <a:ext cx="919140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EF9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7740" y="1361777"/>
            <a:ext cx="1289415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CLOSING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1684834"/>
            <a:ext cx="10795524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This project is Built to be trusted, explained, and challenged, not just demonstrated.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698086" y="3407569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Every decision has a reason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98086" y="3820517"/>
            <a:ext cx="3432288" cy="109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Galaxy vs star schema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Import vs DirectQuery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Two alert channels vs one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379704" y="3407569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Every claim has a number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79704" y="3820517"/>
            <a:ext cx="3432288" cy="1485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16% DAG improvement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123/123 tests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10× row-count fan-out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3-run benchmark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061322" y="3407569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Every limitation is documented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61322" y="3820517"/>
            <a:ext cx="3432288" cy="1735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 CDC, by design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 employee-to-order link in source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Report freshness bounded by refresh schedule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72686" y="3157339"/>
            <a:ext cx="3483086" cy="5080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2" name="Shape 10"/>
          <p:cNvSpPr/>
          <p:nvPr/>
        </p:nvSpPr>
        <p:spPr>
          <a:xfrm>
            <a:off x="4354304" y="3157339"/>
            <a:ext cx="3483086" cy="5080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3" name="Shape 11"/>
          <p:cNvSpPr/>
          <p:nvPr/>
        </p:nvSpPr>
        <p:spPr>
          <a:xfrm>
            <a:off x="8035922" y="3157339"/>
            <a:ext cx="3483086" cy="50800"/>
          </a:xfrm>
          <a:prstGeom prst="rect">
            <a:avLst/>
          </a:prstGeom>
          <a:solidFill>
            <a:srgbClr val="EF9C82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701675"/>
            <a:ext cx="809902" cy="236835"/>
          </a:xfrm>
          <a:prstGeom prst="roundRect">
            <a:avLst>
              <a:gd name="adj" fmla="val 7896"/>
            </a:avLst>
          </a:prstGeom>
          <a:noFill/>
          <a:ln w="6350">
            <a:solidFill>
              <a:srgbClr val="EF9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1547" y="748407"/>
            <a:ext cx="1232564" cy="143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LET'S TALK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98086" y="987127"/>
            <a:ext cx="10795524" cy="458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Thanks for making it this far.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393293" y="1628080"/>
            <a:ext cx="11405108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9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If you want to talk data engineering, architecture, or building pipelines that can be trusted, I’d like to hear from you.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98086" y="2025948"/>
            <a:ext cx="10795524" cy="19050"/>
          </a:xfrm>
          <a:prstGeom prst="roundRect">
            <a:avLst>
              <a:gd name="adj" fmla="val 49999"/>
            </a:avLst>
          </a:prstGeom>
          <a:solidFill>
            <a:srgbClr val="F9EEE7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98086" y="2266454"/>
            <a:ext cx="10795524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3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Beyond Building the Pipeline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98086" y="2815729"/>
            <a:ext cx="10795524" cy="803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This project taught me that building a pipeline is </a:t>
            </a:r>
            <a:r>
              <a:rPr lang="en-US" sz="120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only half the job</a:t>
            </a: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. The harder part is proving that the data is correct, understanding the </a:t>
            </a:r>
            <a:r>
              <a:rPr lang="en-US" sz="120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trade-offs</a:t>
            </a: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behind every design decision, and being honest about what the system cannot guarantee.</a:t>
            </a:r>
            <a:endParaRPr lang="en-US" sz="12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 built this project to demonstrate how I think as a Data Engineer: design for scale, test for correctness, measure what matters, and document the decisions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8086" y="3794621"/>
            <a:ext cx="10795524" cy="19050"/>
          </a:xfrm>
          <a:prstGeom prst="roundRect">
            <a:avLst>
              <a:gd name="adj" fmla="val 49999"/>
            </a:avLst>
          </a:prstGeom>
          <a:solidFill>
            <a:srgbClr val="F9EEE7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98086" y="4035127"/>
            <a:ext cx="10795524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3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REACH OUT</a:t>
            </a:r>
            <a:endParaRPr lang="en-US" sz="2300" dirty="0"/>
          </a:p>
        </p:txBody>
      </p:sp>
      <p:pic>
        <p:nvPicPr>
          <p:cNvPr id="11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9692" y="4584402"/>
            <a:ext cx="929954" cy="428526"/>
          </a:xfrm>
          <a:prstGeom prst="rect">
            <a:avLst/>
          </a:prstGeom>
        </p:spPr>
      </p:pic>
      <p:pic>
        <p:nvPicPr>
          <p:cNvPr id="12" name="Image 1" descr="preencoded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7531" y="4584402"/>
            <a:ext cx="832921" cy="428526"/>
          </a:xfrm>
          <a:prstGeom prst="rect">
            <a:avLst/>
          </a:prstGeom>
        </p:spPr>
      </p:pic>
      <p:pic>
        <p:nvPicPr>
          <p:cNvPr id="13" name="Image 2" descr="preencoded.png">
            <a:hlinkClick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8336" y="4584402"/>
            <a:ext cx="953667" cy="42852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8086" y="5195491"/>
            <a:ext cx="10795524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3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Have a problem worth solving? </a:t>
            </a:r>
            <a:r>
              <a:rPr lang="en-US" sz="2300" dirty="0">
                <a:solidFill>
                  <a:srgbClr val="3E8FD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Let’s talk.</a:t>
            </a:r>
            <a:endParaRPr lang="en-US" sz="2300" dirty="0"/>
          </a:p>
        </p:txBody>
      </p:sp>
      <p:sp>
        <p:nvSpPr>
          <p:cNvPr id="15" name="Shape 10"/>
          <p:cNvSpPr/>
          <p:nvPr/>
        </p:nvSpPr>
        <p:spPr>
          <a:xfrm>
            <a:off x="698086" y="5783659"/>
            <a:ext cx="10795524" cy="19050"/>
          </a:xfrm>
          <a:prstGeom prst="roundRect">
            <a:avLst>
              <a:gd name="adj" fmla="val 49999"/>
            </a:avLst>
          </a:prstGeom>
          <a:solidFill>
            <a:srgbClr val="F9EEE7">
              <a:alpha val="50000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393293" y="5978525"/>
            <a:ext cx="11405108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9000"/>
              </a:lnSpc>
              <a:buNone/>
            </a:pPr>
            <a:r>
              <a:rPr lang="en-US" sz="9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Mohamed Taha Abo Heiba · Data / AI Engineer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750</Words>
  <Application>Microsoft Office PowerPoint</Application>
  <PresentationFormat>Widescreen</PresentationFormat>
  <Paragraphs>125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Quattrocento Bold</vt:lpstr>
      <vt:lpstr>Arial</vt:lpstr>
      <vt:lpstr>Consolas</vt:lpstr>
      <vt:lpstr>Quattrocento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Mohamed Taha Abo Heiba</cp:lastModifiedBy>
  <cp:revision>3</cp:revision>
  <dcterms:created xsi:type="dcterms:W3CDTF">2026-09-02T12:18:01Z</dcterms:created>
  <dcterms:modified xsi:type="dcterms:W3CDTF">2026-09-02T12:41:42Z</dcterms:modified>
</cp:coreProperties>
</file>